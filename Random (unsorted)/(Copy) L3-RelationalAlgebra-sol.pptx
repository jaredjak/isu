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521" r:id="rId2"/>
    <p:sldId id="507" r:id="rId3"/>
    <p:sldId id="509" r:id="rId4"/>
    <p:sldId id="508" r:id="rId5"/>
    <p:sldId id="511" r:id="rId6"/>
    <p:sldId id="512" r:id="rId7"/>
    <p:sldId id="513" r:id="rId8"/>
    <p:sldId id="514" r:id="rId9"/>
    <p:sldId id="468" r:id="rId10"/>
    <p:sldId id="516" r:id="rId11"/>
    <p:sldId id="515" r:id="rId12"/>
    <p:sldId id="517" r:id="rId13"/>
    <p:sldId id="518" r:id="rId14"/>
    <p:sldId id="470" r:id="rId15"/>
    <p:sldId id="471" r:id="rId16"/>
    <p:sldId id="519" r:id="rId17"/>
    <p:sldId id="506" r:id="rId18"/>
    <p:sldId id="472" r:id="rId19"/>
    <p:sldId id="473" r:id="rId20"/>
    <p:sldId id="476" r:id="rId21"/>
    <p:sldId id="520" r:id="rId22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itchFamily="66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itchFamily="66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itchFamily="66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itchFamily="66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Comic Sans MS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59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66"/>
    <a:srgbClr val="660066"/>
    <a:srgbClr val="FFCC00"/>
    <a:srgbClr val="FFFF00"/>
    <a:srgbClr val="CC0099"/>
    <a:srgbClr val="FFFFCC"/>
    <a:srgbClr val="FF0000"/>
    <a:srgbClr val="FFD1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67" autoAdjust="0"/>
    <p:restoredTop sz="86385" autoAdjust="0"/>
  </p:normalViewPr>
  <p:slideViewPr>
    <p:cSldViewPr>
      <p:cViewPr varScale="1">
        <p:scale>
          <a:sx n="118" d="100"/>
          <a:sy n="118" d="100"/>
        </p:scale>
        <p:origin x="1896" y="192"/>
      </p:cViewPr>
      <p:guideLst>
        <p:guide orient="horz" pos="2160"/>
        <p:guide pos="25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9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945" tIns="48472" rIns="96945" bIns="48472" numCol="1" anchor="t" anchorCtr="0" compatLnSpc="1">
            <a:prstTxWarp prst="textNoShape">
              <a:avLst/>
            </a:prstTxWarp>
          </a:bodyPr>
          <a:lstStyle>
            <a:lvl1pPr defTabSz="969963">
              <a:defRPr sz="13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945" tIns="48472" rIns="96945" bIns="48472" numCol="1" anchor="t" anchorCtr="0" compatLnSpc="1">
            <a:prstTxWarp prst="textNoShape">
              <a:avLst/>
            </a:prstTxWarp>
          </a:bodyPr>
          <a:lstStyle>
            <a:lvl1pPr algn="r" defTabSz="969963">
              <a:defRPr sz="13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945" tIns="48472" rIns="96945" bIns="48472" numCol="1" anchor="b" anchorCtr="0" compatLnSpc="1">
            <a:prstTxWarp prst="textNoShape">
              <a:avLst/>
            </a:prstTxWarp>
          </a:bodyPr>
          <a:lstStyle>
            <a:lvl1pPr defTabSz="969963">
              <a:defRPr sz="13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945" tIns="48472" rIns="96945" bIns="48472" numCol="1" anchor="b" anchorCtr="0" compatLnSpc="1">
            <a:prstTxWarp prst="textNoShape">
              <a:avLst/>
            </a:prstTxWarp>
          </a:bodyPr>
          <a:lstStyle>
            <a:lvl1pPr algn="r" defTabSz="969963">
              <a:defRPr sz="1300">
                <a:latin typeface="Times New Roman" pitchFamily="18" charset="0"/>
              </a:defRPr>
            </a:lvl1pPr>
          </a:lstStyle>
          <a:p>
            <a:fld id="{952853A2-50DE-4B62-A701-F7E3FABE44C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0825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8135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0" tIns="47416" rIns="94830" bIns="47416" numCol="1" anchor="t" anchorCtr="0" compatLnSpc="1">
            <a:prstTxWarp prst="textNoShape">
              <a:avLst/>
            </a:prstTxWarp>
          </a:bodyPr>
          <a:lstStyle>
            <a:lvl1pPr defTabSz="947738">
              <a:defRPr sz="1300"/>
            </a:lvl1pPr>
          </a:lstStyle>
          <a:p>
            <a:endParaRPr lang="en-US"/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33850" y="0"/>
            <a:ext cx="318135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0" tIns="47416" rIns="94830" bIns="47416" numCol="1" anchor="t" anchorCtr="0" compatLnSpc="1">
            <a:prstTxWarp prst="textNoShape">
              <a:avLst/>
            </a:prstTxWarp>
          </a:bodyPr>
          <a:lstStyle>
            <a:lvl1pPr algn="r" defTabSz="947738">
              <a:defRPr sz="1300"/>
            </a:lvl1pPr>
          </a:lstStyle>
          <a:p>
            <a:endParaRPr lang="en-US"/>
          </a:p>
        </p:txBody>
      </p:sp>
      <p:sp>
        <p:nvSpPr>
          <p:cNvPr id="1269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4600" y="708025"/>
            <a:ext cx="4827588" cy="36210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269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54088" y="4564063"/>
            <a:ext cx="5407025" cy="432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0" tIns="47416" rIns="94830" bIns="474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69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8125"/>
            <a:ext cx="318135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0" tIns="47416" rIns="94830" bIns="47416" numCol="1" anchor="b" anchorCtr="0" compatLnSpc="1">
            <a:prstTxWarp prst="textNoShape">
              <a:avLst/>
            </a:prstTxWarp>
          </a:bodyPr>
          <a:lstStyle>
            <a:lvl1pPr defTabSz="947738">
              <a:defRPr sz="1300"/>
            </a:lvl1pPr>
          </a:lstStyle>
          <a:p>
            <a:endParaRPr lang="en-US"/>
          </a:p>
        </p:txBody>
      </p:sp>
      <p:sp>
        <p:nvSpPr>
          <p:cNvPr id="1269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3850" y="9128125"/>
            <a:ext cx="318135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0" tIns="47416" rIns="94830" bIns="47416" numCol="1" anchor="b" anchorCtr="0" compatLnSpc="1">
            <a:prstTxWarp prst="textNoShape">
              <a:avLst/>
            </a:prstTxWarp>
          </a:bodyPr>
          <a:lstStyle>
            <a:lvl1pPr algn="r" defTabSz="947738">
              <a:defRPr sz="1300"/>
            </a:lvl1pPr>
          </a:lstStyle>
          <a:p>
            <a:fld id="{6FC4DE18-8089-46CC-807A-FA67B697BA4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1510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B359123-8EDB-4F30-878A-E6E6CE4A257B}" type="slidenum">
              <a:rPr lang="en-US"/>
              <a:pPr/>
              <a:t>1</a:t>
            </a:fld>
            <a:endParaRPr lang="en-US"/>
          </a:p>
        </p:txBody>
      </p:sp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53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3C5FA5-A3F7-4CE8-BC9F-E66425B27411}" type="slidenum">
              <a:rPr lang="en-US"/>
              <a:pPr/>
              <a:t>2</a:t>
            </a:fld>
            <a:endParaRPr lang="en-US"/>
          </a:p>
        </p:txBody>
      </p:sp>
      <p:sp>
        <p:nvSpPr>
          <p:cNvPr id="374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374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3C5FA5-A3F7-4CE8-BC9F-E66425B27411}" type="slidenum">
              <a:rPr lang="en-US"/>
              <a:pPr/>
              <a:t>3</a:t>
            </a:fld>
            <a:endParaRPr lang="en-US"/>
          </a:p>
        </p:txBody>
      </p:sp>
      <p:sp>
        <p:nvSpPr>
          <p:cNvPr id="374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374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3C5FA5-A3F7-4CE8-BC9F-E66425B27411}" type="slidenum">
              <a:rPr lang="en-US"/>
              <a:pPr/>
              <a:t>4</a:t>
            </a:fld>
            <a:endParaRPr lang="en-US"/>
          </a:p>
        </p:txBody>
      </p:sp>
      <p:sp>
        <p:nvSpPr>
          <p:cNvPr id="374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374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3C5FA5-A3F7-4CE8-BC9F-E66425B27411}" type="slidenum">
              <a:rPr lang="en-US"/>
              <a:pPr/>
              <a:t>5</a:t>
            </a:fld>
            <a:endParaRPr lang="en-US"/>
          </a:p>
        </p:txBody>
      </p:sp>
      <p:sp>
        <p:nvSpPr>
          <p:cNvPr id="374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374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3C5FA5-A3F7-4CE8-BC9F-E66425B27411}" type="slidenum">
              <a:rPr lang="en-US"/>
              <a:pPr/>
              <a:t>6</a:t>
            </a:fld>
            <a:endParaRPr lang="en-US"/>
          </a:p>
        </p:txBody>
      </p:sp>
      <p:sp>
        <p:nvSpPr>
          <p:cNvPr id="374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374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3C5FA5-A3F7-4CE8-BC9F-E66425B27411}" type="slidenum">
              <a:rPr lang="en-US"/>
              <a:pPr/>
              <a:t>7</a:t>
            </a:fld>
            <a:endParaRPr lang="en-US"/>
          </a:p>
        </p:txBody>
      </p:sp>
      <p:sp>
        <p:nvSpPr>
          <p:cNvPr id="374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374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3C5FA5-A3F7-4CE8-BC9F-E66425B27411}" type="slidenum">
              <a:rPr lang="en-US"/>
              <a:pPr/>
              <a:t>8</a:t>
            </a:fld>
            <a:endParaRPr lang="en-US"/>
          </a:p>
        </p:txBody>
      </p:sp>
      <p:sp>
        <p:nvSpPr>
          <p:cNvPr id="374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374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3DA1CDC-217B-4855-BE93-0A8F48F5DD20}" type="slidenum">
              <a:rPr lang="en-US"/>
              <a:pPr/>
              <a:t>9</a:t>
            </a:fld>
            <a:endParaRPr lang="en-US"/>
          </a:p>
        </p:txBody>
      </p:sp>
      <p:sp>
        <p:nvSpPr>
          <p:cNvPr id="401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401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3DA1CDC-217B-4855-BE93-0A8F48F5DD20}" type="slidenum">
              <a:rPr lang="en-US"/>
              <a:pPr/>
              <a:t>10</a:t>
            </a:fld>
            <a:endParaRPr lang="en-US"/>
          </a:p>
        </p:txBody>
      </p:sp>
      <p:sp>
        <p:nvSpPr>
          <p:cNvPr id="401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401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3DA1CDC-217B-4855-BE93-0A8F48F5DD20}" type="slidenum">
              <a:rPr lang="en-US"/>
              <a:pPr/>
              <a:t>11</a:t>
            </a:fld>
            <a:endParaRPr lang="en-US"/>
          </a:p>
        </p:txBody>
      </p:sp>
      <p:sp>
        <p:nvSpPr>
          <p:cNvPr id="401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401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3DA1CDC-217B-4855-BE93-0A8F48F5DD20}" type="slidenum">
              <a:rPr lang="en-US"/>
              <a:pPr/>
              <a:t>12</a:t>
            </a:fld>
            <a:endParaRPr lang="en-US"/>
          </a:p>
        </p:txBody>
      </p:sp>
      <p:sp>
        <p:nvSpPr>
          <p:cNvPr id="401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401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5475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C8658FD-F2B8-4159-A090-00D2C6AC8929}" type="slidenum">
              <a:rPr lang="en-US"/>
              <a:pPr/>
              <a:t>13</a:t>
            </a:fld>
            <a:endParaRPr lang="en-US"/>
          </a:p>
        </p:txBody>
      </p:sp>
      <p:sp>
        <p:nvSpPr>
          <p:cNvPr id="405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405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</p:spPr>
        <p:txBody>
          <a:bodyPr/>
          <a:lstStyle/>
          <a:p>
            <a:r>
              <a:rPr lang="en-US"/>
              <a:t>This exercise comes from Chapter 4</a:t>
            </a:r>
          </a:p>
        </p:txBody>
      </p:sp>
    </p:spTree>
    <p:extLst>
      <p:ext uri="{BB962C8B-B14F-4D97-AF65-F5344CB8AC3E}">
        <p14:creationId xmlns:p14="http://schemas.microsoft.com/office/powerpoint/2010/main" val="34167940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C8658FD-F2B8-4159-A090-00D2C6AC8929}" type="slidenum">
              <a:rPr lang="en-US"/>
              <a:pPr/>
              <a:t>14</a:t>
            </a:fld>
            <a:endParaRPr lang="en-US"/>
          </a:p>
        </p:txBody>
      </p:sp>
      <p:sp>
        <p:nvSpPr>
          <p:cNvPr id="405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405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</p:spPr>
        <p:txBody>
          <a:bodyPr/>
          <a:lstStyle/>
          <a:p>
            <a:r>
              <a:rPr lang="en-US"/>
              <a:t>This exercise comes from Chapter 4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BE2726-3292-4CE6-AAE1-918B420AB8D7}" type="slidenum">
              <a:rPr lang="en-US"/>
              <a:pPr/>
              <a:t>15</a:t>
            </a:fld>
            <a:endParaRPr lang="en-US"/>
          </a:p>
        </p:txBody>
      </p:sp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BE2726-3292-4CE6-AAE1-918B420AB8D7}" type="slidenum">
              <a:rPr lang="en-US"/>
              <a:pPr/>
              <a:t>16</a:t>
            </a:fld>
            <a:endParaRPr lang="en-US"/>
          </a:p>
        </p:txBody>
      </p:sp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293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F2D26F-8E73-42F9-90FA-5C9F9C17631F}" type="slidenum">
              <a:rPr lang="en-US"/>
              <a:pPr/>
              <a:t>17</a:t>
            </a:fld>
            <a:endParaRPr lang="en-US"/>
          </a:p>
        </p:txBody>
      </p:sp>
      <p:sp>
        <p:nvSpPr>
          <p:cNvPr id="409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409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F2D26F-8E73-42F9-90FA-5C9F9C17631F}" type="slidenum">
              <a:rPr lang="en-US"/>
              <a:pPr/>
              <a:t>18</a:t>
            </a:fld>
            <a:endParaRPr lang="en-US"/>
          </a:p>
        </p:txBody>
      </p:sp>
      <p:sp>
        <p:nvSpPr>
          <p:cNvPr id="409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409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4B0B4B-EAD5-4E4C-87A5-492393855D65}" type="slidenum">
              <a:rPr lang="en-US"/>
              <a:pPr/>
              <a:t>19</a:t>
            </a:fld>
            <a:endParaRPr lang="en-US"/>
          </a:p>
        </p:txBody>
      </p:sp>
      <p:sp>
        <p:nvSpPr>
          <p:cNvPr id="411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411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4F7402-DD39-4432-8188-7220E8AB6228}" type="slidenum">
              <a:rPr lang="en-US"/>
              <a:pPr/>
              <a:t>20</a:t>
            </a:fld>
            <a:endParaRPr lang="en-US"/>
          </a:p>
        </p:txBody>
      </p:sp>
      <p:sp>
        <p:nvSpPr>
          <p:cNvPr id="417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417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4F7402-DD39-4432-8188-7220E8AB6228}" type="slidenum">
              <a:rPr lang="en-US"/>
              <a:pPr/>
              <a:t>21</a:t>
            </a:fld>
            <a:endParaRPr lang="en-US"/>
          </a:p>
        </p:txBody>
      </p:sp>
      <p:sp>
        <p:nvSpPr>
          <p:cNvPr id="417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417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722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38D4FE-4A6D-4D5D-8397-D8BE38861C8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D64ECC-E2D4-479E-9283-C9FA0E7C301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157175-7011-446F-AA99-A38B5EB6D9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AB8C92-56FE-438A-830E-A8BD0D3CE4D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C5F1A0-00B0-4D2E-911A-316A6067BD9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BA8F49-1D62-4080-A4DE-A9BA13EFF89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DADE7E-E2C8-4934-A7CD-DBF51C40CE2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D54F59-556B-421E-9BCC-EF3FB59A07D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48C3B8-7B5D-42B6-B6B0-9FF75FB605F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B33702-9513-4D92-9AEC-0A719A9D27C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5C0FB4-BFE9-4C9D-AD73-01B766F122A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EF1E1A93-D47C-4DCB-8A33-D1E7EEADE88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0F4DBEC2-225A-4FE0-8A24-0CECC808E7F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E935863C-B6DD-40F6-BC4B-22EC722ADE7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elational_algebra#Projection_(%CE%A0)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2"/>
          <p:cNvSpPr>
            <a:spLocks noChangeArrowheads="1"/>
          </p:cNvSpPr>
          <p:nvPr/>
        </p:nvSpPr>
        <p:spPr bwMode="auto">
          <a:xfrm>
            <a:off x="533400" y="228600"/>
            <a:ext cx="8229600" cy="685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/>
            <a:r>
              <a:rPr lang="en-US" sz="3600" dirty="0">
                <a:solidFill>
                  <a:srgbClr val="CC0066"/>
                </a:solidFill>
                <a:latin typeface="+mn-lt"/>
              </a:rPr>
              <a:t>Overview of Query Evaluation</a:t>
            </a:r>
          </a:p>
        </p:txBody>
      </p:sp>
      <p:sp>
        <p:nvSpPr>
          <p:cNvPr id="357379" name="Rectangle 3"/>
          <p:cNvSpPr>
            <a:spLocks noChangeArrowheads="1"/>
          </p:cNvSpPr>
          <p:nvPr/>
        </p:nvSpPr>
        <p:spPr bwMode="auto">
          <a:xfrm>
            <a:off x="495300" y="1114425"/>
            <a:ext cx="4267200" cy="541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dirty="0">
                <a:latin typeface="+mn-lt"/>
              </a:rPr>
              <a:t>A user query is expressed using SQL or other languages, ideally natural languages</a:t>
            </a: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dirty="0">
                <a:latin typeface="+mn-lt"/>
              </a:rPr>
              <a:t>A parsed query is essentially treated as a </a:t>
            </a:r>
            <a:r>
              <a:rPr lang="en-US" dirty="0">
                <a:solidFill>
                  <a:schemeClr val="accent2"/>
                </a:solidFill>
                <a:latin typeface="+mn-lt"/>
              </a:rPr>
              <a:t>relational algebra</a:t>
            </a:r>
            <a:r>
              <a:rPr lang="en-US" dirty="0">
                <a:latin typeface="+mn-lt"/>
              </a:rPr>
              <a:t> expression with a set of basic operators whose operands are tables/relations</a:t>
            </a:r>
          </a:p>
          <a:p>
            <a:pPr marL="742950" lvl="1" indent="-285750">
              <a:spcBef>
                <a:spcPct val="20000"/>
              </a:spcBef>
              <a:buFont typeface="Wingdings" charset="2"/>
              <a:buChar char="§"/>
            </a:pPr>
            <a:r>
              <a:rPr lang="en-US" sz="1800" dirty="0">
                <a:latin typeface="+mn-lt"/>
              </a:rPr>
              <a:t>Selection (</a:t>
            </a:r>
            <a:r>
              <a:rPr lang="ru-RU" sz="1800" dirty="0">
                <a:latin typeface="+mn-lt"/>
              </a:rPr>
              <a:t>б</a:t>
            </a:r>
            <a:r>
              <a:rPr lang="en-US" sz="1800" dirty="0">
                <a:latin typeface="+mn-lt"/>
              </a:rPr>
              <a:t>)</a:t>
            </a:r>
          </a:p>
          <a:p>
            <a:pPr marL="742950" lvl="1" indent="-285750">
              <a:spcBef>
                <a:spcPct val="20000"/>
              </a:spcBef>
              <a:buFont typeface="Wingdings" charset="2"/>
              <a:buChar char="§"/>
            </a:pPr>
            <a:r>
              <a:rPr lang="en-US" sz="1800" dirty="0">
                <a:latin typeface="+mn-lt"/>
              </a:rPr>
              <a:t>Join (</a:t>
            </a:r>
            <a:r>
              <a:rPr lang="en-US" sz="1800" b="1" dirty="0"/>
              <a:t>⋈</a:t>
            </a:r>
            <a:r>
              <a:rPr lang="en-US" sz="1800" dirty="0">
                <a:latin typeface="+mn-lt"/>
              </a:rPr>
              <a:t>)</a:t>
            </a:r>
          </a:p>
          <a:p>
            <a:pPr marL="742950" lvl="1" indent="-285750">
              <a:spcBef>
                <a:spcPct val="20000"/>
              </a:spcBef>
              <a:buFont typeface="Wingdings" charset="2"/>
              <a:buChar char="§"/>
            </a:pPr>
            <a:r>
              <a:rPr lang="en-US" sz="1800" dirty="0">
                <a:latin typeface="+mn-lt"/>
              </a:rPr>
              <a:t>Project(</a:t>
            </a:r>
            <a:r>
              <a:rPr lang="el-GR" sz="1800" dirty="0">
                <a:latin typeface="+mn-lt"/>
              </a:rPr>
              <a:t>Π</a:t>
            </a:r>
            <a:r>
              <a:rPr lang="en-US" sz="1800" dirty="0">
                <a:latin typeface="+mn-lt"/>
              </a:rPr>
              <a:t>) </a:t>
            </a:r>
          </a:p>
          <a:p>
            <a:pPr marL="742950" lvl="1" indent="-285750">
              <a:spcBef>
                <a:spcPct val="20000"/>
              </a:spcBef>
              <a:buFont typeface="Wingdings" charset="2"/>
              <a:buChar char="§"/>
            </a:pPr>
            <a:r>
              <a:rPr lang="en-US" sz="1800" dirty="0">
                <a:latin typeface="+mn-lt"/>
              </a:rPr>
              <a:t>Union, intersection and difference, cross product, division</a:t>
            </a: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sz="1800" dirty="0">
                <a:latin typeface="+mn-lt"/>
              </a:rPr>
              <a:t>Query optimizer </a:t>
            </a:r>
          </a:p>
          <a:p>
            <a:pPr marL="742950" lvl="1" indent="-285750">
              <a:spcBef>
                <a:spcPct val="20000"/>
              </a:spcBef>
              <a:buFont typeface="Wingdings" charset="2"/>
              <a:buChar char="§"/>
            </a:pPr>
            <a:r>
              <a:rPr lang="en-US" sz="1800" dirty="0">
                <a:latin typeface="+mn-lt"/>
              </a:rPr>
              <a:t>Enumerates the possible plans to evaluate expression,</a:t>
            </a:r>
          </a:p>
          <a:p>
            <a:pPr marL="742950" lvl="1" indent="-285750">
              <a:spcBef>
                <a:spcPct val="20000"/>
              </a:spcBef>
              <a:buFont typeface="Wingdings" charset="2"/>
              <a:buChar char="§"/>
            </a:pPr>
            <a:r>
              <a:rPr lang="en-US" sz="1800" dirty="0">
                <a:latin typeface="+mn-lt"/>
              </a:rPr>
              <a:t>Select a small subset of these plans and estimate their cost</a:t>
            </a:r>
            <a:endParaRPr lang="el-GR" sz="1800" dirty="0">
              <a:latin typeface="+mn-lt"/>
            </a:endParaRPr>
          </a:p>
        </p:txBody>
      </p:sp>
      <p:sp>
        <p:nvSpPr>
          <p:cNvPr id="357406" name="Rectangle 30"/>
          <p:cNvSpPr>
            <a:spLocks noChangeArrowheads="1"/>
          </p:cNvSpPr>
          <p:nvPr/>
        </p:nvSpPr>
        <p:spPr bwMode="auto">
          <a:xfrm>
            <a:off x="5334000" y="2133600"/>
            <a:ext cx="18288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/>
              <a:t>Query Parser</a:t>
            </a:r>
          </a:p>
        </p:txBody>
      </p:sp>
      <p:sp>
        <p:nvSpPr>
          <p:cNvPr id="357407" name="Rectangle 31"/>
          <p:cNvSpPr>
            <a:spLocks noChangeArrowheads="1"/>
          </p:cNvSpPr>
          <p:nvPr/>
        </p:nvSpPr>
        <p:spPr bwMode="auto">
          <a:xfrm>
            <a:off x="4800600" y="3429000"/>
            <a:ext cx="2895600" cy="1295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400"/>
          </a:p>
        </p:txBody>
      </p:sp>
      <p:sp>
        <p:nvSpPr>
          <p:cNvPr id="357408" name="Text Box 32"/>
          <p:cNvSpPr txBox="1">
            <a:spLocks noChangeArrowheads="1"/>
          </p:cNvSpPr>
          <p:nvPr/>
        </p:nvSpPr>
        <p:spPr bwMode="auto">
          <a:xfrm>
            <a:off x="2879725" y="5608638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 sz="2400"/>
          </a:p>
        </p:txBody>
      </p:sp>
      <p:sp>
        <p:nvSpPr>
          <p:cNvPr id="357409" name="Rectangle 33"/>
          <p:cNvSpPr>
            <a:spLocks noChangeArrowheads="1"/>
          </p:cNvSpPr>
          <p:nvPr/>
        </p:nvSpPr>
        <p:spPr bwMode="auto">
          <a:xfrm>
            <a:off x="4953000" y="3962400"/>
            <a:ext cx="9906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/>
              <a:t>Plan </a:t>
            </a:r>
          </a:p>
          <a:p>
            <a:pPr algn="ctr"/>
            <a:r>
              <a:rPr lang="en-US" sz="1400"/>
              <a:t>Generator</a:t>
            </a:r>
          </a:p>
        </p:txBody>
      </p:sp>
      <p:sp>
        <p:nvSpPr>
          <p:cNvPr id="357410" name="Rectangle 34"/>
          <p:cNvSpPr>
            <a:spLocks noChangeArrowheads="1"/>
          </p:cNvSpPr>
          <p:nvPr/>
        </p:nvSpPr>
        <p:spPr bwMode="auto">
          <a:xfrm>
            <a:off x="6553200" y="3962400"/>
            <a:ext cx="9906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/>
              <a:t>Plan Cost </a:t>
            </a:r>
          </a:p>
          <a:p>
            <a:pPr algn="ctr"/>
            <a:r>
              <a:rPr lang="en-US" sz="1400"/>
              <a:t>Estimator</a:t>
            </a:r>
          </a:p>
        </p:txBody>
      </p:sp>
      <p:sp>
        <p:nvSpPr>
          <p:cNvPr id="357411" name="Text Box 35"/>
          <p:cNvSpPr txBox="1">
            <a:spLocks noChangeArrowheads="1"/>
          </p:cNvSpPr>
          <p:nvPr/>
        </p:nvSpPr>
        <p:spPr bwMode="auto">
          <a:xfrm>
            <a:off x="5257800" y="3452813"/>
            <a:ext cx="2000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Query Optimizer</a:t>
            </a:r>
          </a:p>
        </p:txBody>
      </p:sp>
      <p:sp>
        <p:nvSpPr>
          <p:cNvPr id="357412" name="Text Box 36"/>
          <p:cNvSpPr txBox="1">
            <a:spLocks noChangeArrowheads="1"/>
          </p:cNvSpPr>
          <p:nvPr/>
        </p:nvSpPr>
        <p:spPr bwMode="auto">
          <a:xfrm>
            <a:off x="5632450" y="1447800"/>
            <a:ext cx="13017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/>
              <a:t>User Query</a:t>
            </a:r>
          </a:p>
        </p:txBody>
      </p:sp>
      <p:sp>
        <p:nvSpPr>
          <p:cNvPr id="357413" name="Rectangle 37"/>
          <p:cNvSpPr>
            <a:spLocks noChangeArrowheads="1"/>
          </p:cNvSpPr>
          <p:nvPr/>
        </p:nvSpPr>
        <p:spPr bwMode="auto">
          <a:xfrm>
            <a:off x="5029200" y="5105400"/>
            <a:ext cx="2514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/>
              <a:t>Query Plan Evaluator</a:t>
            </a:r>
          </a:p>
        </p:txBody>
      </p:sp>
      <p:sp>
        <p:nvSpPr>
          <p:cNvPr id="357414" name="Rectangle 38"/>
          <p:cNvSpPr>
            <a:spLocks noChangeArrowheads="1"/>
          </p:cNvSpPr>
          <p:nvPr/>
        </p:nvSpPr>
        <p:spPr bwMode="auto">
          <a:xfrm>
            <a:off x="8001000" y="3886200"/>
            <a:ext cx="8382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/>
              <a:t>Catalog</a:t>
            </a:r>
          </a:p>
          <a:p>
            <a:pPr algn="ctr"/>
            <a:r>
              <a:rPr lang="en-US" sz="1400"/>
              <a:t>Manager</a:t>
            </a:r>
          </a:p>
        </p:txBody>
      </p:sp>
      <p:sp>
        <p:nvSpPr>
          <p:cNvPr id="357415" name="Line 39"/>
          <p:cNvSpPr>
            <a:spLocks noChangeShapeType="1"/>
          </p:cNvSpPr>
          <p:nvPr/>
        </p:nvSpPr>
        <p:spPr bwMode="auto">
          <a:xfrm>
            <a:off x="6248400" y="2743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7416" name="Text Box 40"/>
          <p:cNvSpPr txBox="1">
            <a:spLocks noChangeArrowheads="1"/>
          </p:cNvSpPr>
          <p:nvPr/>
        </p:nvSpPr>
        <p:spPr bwMode="auto">
          <a:xfrm>
            <a:off x="6324600" y="2971800"/>
            <a:ext cx="13160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Parsed Query</a:t>
            </a:r>
          </a:p>
        </p:txBody>
      </p:sp>
      <p:sp>
        <p:nvSpPr>
          <p:cNvPr id="357417" name="Line 41"/>
          <p:cNvSpPr>
            <a:spLocks noChangeShapeType="1"/>
          </p:cNvSpPr>
          <p:nvPr/>
        </p:nvSpPr>
        <p:spPr bwMode="auto">
          <a:xfrm>
            <a:off x="7543800" y="4267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7418" name="Line 42"/>
          <p:cNvSpPr>
            <a:spLocks noChangeShapeType="1"/>
          </p:cNvSpPr>
          <p:nvPr/>
        </p:nvSpPr>
        <p:spPr bwMode="auto">
          <a:xfrm>
            <a:off x="6248400" y="1828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7419" name="Line 43"/>
          <p:cNvSpPr>
            <a:spLocks noChangeShapeType="1"/>
          </p:cNvSpPr>
          <p:nvPr/>
        </p:nvSpPr>
        <p:spPr bwMode="auto">
          <a:xfrm>
            <a:off x="6248400" y="4724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357420" name="Object 44"/>
          <p:cNvGraphicFramePr>
            <a:graphicFrameLocks noChangeAspect="1"/>
          </p:cNvGraphicFramePr>
          <p:nvPr/>
        </p:nvGraphicFramePr>
        <p:xfrm>
          <a:off x="4591050" y="2940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20" imgH="215640" progId="Equation.3">
                  <p:embed/>
                </p:oleObj>
              </mc:Choice>
              <mc:Fallback>
                <p:oleObj name="Equation" r:id="rId3" imgW="114120" imgH="215640" progId="Equation.3">
                  <p:embed/>
                  <p:pic>
                    <p:nvPicPr>
                      <p:cNvPr id="35742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1050" y="2940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4652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763000" cy="685800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Union, Intersection and Difference Operators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90600"/>
            <a:ext cx="7467600" cy="19580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3124200"/>
            <a:ext cx="3769688" cy="2819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0" y="3657600"/>
            <a:ext cx="4408334" cy="21634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7C2F09A-5C57-F54E-9146-229487CC1EA8}"/>
              </a:ext>
            </a:extLst>
          </p:cNvPr>
          <p:cNvSpPr txBox="1"/>
          <p:nvPr/>
        </p:nvSpPr>
        <p:spPr>
          <a:xfrm>
            <a:off x="3733800" y="6119135"/>
            <a:ext cx="24865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(R-S) U (R ^S) </a:t>
            </a:r>
            <a:r>
              <a:rPr lang="en-US" dirty="0">
                <a:sym typeface="Wingdings" pitchFamily="2" charset="2"/>
              </a:rPr>
              <a:t> 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456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763000" cy="533400"/>
          </a:xfrm>
        </p:spPr>
        <p:txBody>
          <a:bodyPr/>
          <a:lstStyle/>
          <a:p>
            <a:r>
              <a:rPr lang="en-US" sz="3200">
                <a:solidFill>
                  <a:schemeClr val="tx1"/>
                </a:solidFill>
              </a:rPr>
              <a:t>Select Operator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838200"/>
            <a:ext cx="6400800" cy="177201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514600"/>
            <a:ext cx="5348978" cy="546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971800"/>
            <a:ext cx="5154420" cy="34670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AC4CAB-521D-1740-8894-33D5BD1E77B5}"/>
              </a:ext>
            </a:extLst>
          </p:cNvPr>
          <p:cNvSpPr txBox="1"/>
          <p:nvPr/>
        </p:nvSpPr>
        <p:spPr>
          <a:xfrm>
            <a:off x="6257440" y="4304424"/>
            <a:ext cx="218842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R_{A&lt;B}</a:t>
            </a:r>
          </a:p>
          <a:p>
            <a:r>
              <a:rPr lang="en-US" dirty="0"/>
              <a:t>(3, 4)</a:t>
            </a:r>
          </a:p>
          <a:p>
            <a:r>
              <a:rPr lang="en-US" dirty="0"/>
              <a:t>(5, 6)</a:t>
            </a:r>
          </a:p>
        </p:txBody>
      </p:sp>
    </p:spTree>
    <p:extLst>
      <p:ext uri="{BB962C8B-B14F-4D97-AF65-F5344CB8AC3E}">
        <p14:creationId xmlns:p14="http://schemas.microsoft.com/office/powerpoint/2010/main" val="618191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763000" cy="457200"/>
          </a:xfrm>
        </p:spPr>
        <p:txBody>
          <a:bodyPr/>
          <a:lstStyle/>
          <a:p>
            <a:r>
              <a:rPr lang="en-US" sz="3200">
                <a:solidFill>
                  <a:schemeClr val="tx1"/>
                </a:solidFill>
              </a:rPr>
              <a:t>Project Operator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14600"/>
            <a:ext cx="5348978" cy="5461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762000"/>
            <a:ext cx="7086600" cy="231184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276600"/>
            <a:ext cx="6096000" cy="305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570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8763000" cy="457200"/>
          </a:xfrm>
        </p:spPr>
        <p:txBody>
          <a:bodyPr/>
          <a:lstStyle/>
          <a:p>
            <a:r>
              <a:rPr lang="en-US" sz="3200">
                <a:solidFill>
                  <a:schemeClr val="tx1"/>
                </a:solidFill>
              </a:rPr>
              <a:t>Natural Join Operator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85800"/>
            <a:ext cx="7031846" cy="304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810000"/>
            <a:ext cx="1447800" cy="5622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4038600"/>
            <a:ext cx="6052285" cy="2494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01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8763000" cy="457200"/>
          </a:xfrm>
        </p:spPr>
        <p:txBody>
          <a:bodyPr/>
          <a:lstStyle/>
          <a:p>
            <a:r>
              <a:rPr lang="en-US" sz="3200">
                <a:solidFill>
                  <a:schemeClr val="tx1"/>
                </a:solidFill>
              </a:rPr>
              <a:t>Renaming Operator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609600"/>
            <a:ext cx="6858000" cy="217402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2667000"/>
            <a:ext cx="5580845" cy="1981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800" y="4571999"/>
            <a:ext cx="5585750" cy="216310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053A58-35F3-384D-ADCC-6BFDFE67EF7B}"/>
              </a:ext>
            </a:extLst>
          </p:cNvPr>
          <p:cNvSpPr txBox="1"/>
          <p:nvPr/>
        </p:nvSpPr>
        <p:spPr>
          <a:xfrm>
            <a:off x="985652" y="5569527"/>
            <a:ext cx="140615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 U S </a:t>
            </a:r>
            <a:r>
              <a:rPr lang="en-US" dirty="0">
                <a:sym typeface="Wingdings" pitchFamily="2" charset="2"/>
              </a:rPr>
              <a:t> q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Q - 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987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8763000" cy="457200"/>
          </a:xfrm>
        </p:spPr>
        <p:txBody>
          <a:bodyPr/>
          <a:lstStyle/>
          <a:p>
            <a:r>
              <a:rPr lang="en-US" sz="3200">
                <a:solidFill>
                  <a:schemeClr val="tx1"/>
                </a:solidFill>
              </a:rPr>
              <a:t>Cross Product Operator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85800"/>
            <a:ext cx="6553200" cy="607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404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533400"/>
            <a:ext cx="8763000" cy="457200"/>
          </a:xfrm>
        </p:spPr>
        <p:txBody>
          <a:bodyPr/>
          <a:lstStyle/>
          <a:p>
            <a:r>
              <a:rPr lang="en-US" sz="3200">
                <a:solidFill>
                  <a:schemeClr val="tx1"/>
                </a:solidFill>
              </a:rPr>
              <a:t>Additional Join Operators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524000"/>
            <a:ext cx="8077200" cy="4038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5B4311-2313-DF43-9D9D-C697CB2B76EF}"/>
              </a:ext>
            </a:extLst>
          </p:cNvPr>
          <p:cNvSpPr txBox="1"/>
          <p:nvPr/>
        </p:nvSpPr>
        <p:spPr>
          <a:xfrm>
            <a:off x="952455" y="5257800"/>
            <a:ext cx="361509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 </a:t>
            </a:r>
            <a:r>
              <a:rPr lang="en-US" dirty="0" err="1"/>
              <a:t>crossproduct</a:t>
            </a:r>
            <a:r>
              <a:rPr lang="en-US" dirty="0"/>
              <a:t>_{</a:t>
            </a:r>
            <a:r>
              <a:rPr lang="en-US" dirty="0" err="1"/>
              <a:t>r.B</a:t>
            </a:r>
            <a:r>
              <a:rPr lang="en-US" dirty="0"/>
              <a:t> &lt; </a:t>
            </a:r>
            <a:r>
              <a:rPr lang="en-US" dirty="0" err="1"/>
              <a:t>s.B</a:t>
            </a:r>
            <a:r>
              <a:rPr lang="en-US" dirty="0"/>
              <a:t>). S</a:t>
            </a:r>
          </a:p>
          <a:p>
            <a:pPr marL="457200" indent="-457200">
              <a:buAutoNum type="arabicParenR"/>
            </a:pPr>
            <a:r>
              <a:rPr lang="en-US" dirty="0"/>
              <a:t>1   2.   4.  2</a:t>
            </a:r>
          </a:p>
          <a:p>
            <a:pPr marL="457200" indent="-457200">
              <a:buAutoNum type="arabicParenR"/>
            </a:pPr>
            <a:r>
              <a:rPr lang="en-US" dirty="0"/>
              <a:t>1   2.   4.  3</a:t>
            </a:r>
          </a:p>
        </p:txBody>
      </p:sp>
    </p:spTree>
    <p:extLst>
      <p:ext uri="{BB962C8B-B14F-4D97-AF65-F5344CB8AC3E}">
        <p14:creationId xmlns:p14="http://schemas.microsoft.com/office/powerpoint/2010/main" val="3383572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7772400" cy="457200"/>
          </a:xfrm>
        </p:spPr>
        <p:txBody>
          <a:bodyPr/>
          <a:lstStyle/>
          <a:p>
            <a:r>
              <a:rPr lang="en-US" sz="3200"/>
              <a:t>Relational Algebra as a Query Language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685800"/>
            <a:ext cx="5410200" cy="166799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648200"/>
            <a:ext cx="6553200" cy="11901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352800"/>
            <a:ext cx="1948808" cy="103858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2590800"/>
            <a:ext cx="6324600" cy="6220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6019800"/>
            <a:ext cx="6553200" cy="4747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457200"/>
          </a:xfrm>
        </p:spPr>
        <p:txBody>
          <a:bodyPr/>
          <a:lstStyle/>
          <a:p>
            <a:r>
              <a:rPr lang="en-US" sz="3200" dirty="0"/>
              <a:t>Relational Algebra as a Query Language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1219200"/>
            <a:ext cx="5410200" cy="166799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276600"/>
            <a:ext cx="6781800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541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685800"/>
          </a:xfrm>
        </p:spPr>
        <p:txBody>
          <a:bodyPr/>
          <a:lstStyle/>
          <a:p>
            <a:r>
              <a:rPr lang="en-US" dirty="0">
                <a:latin typeface="+mn-lt"/>
              </a:rPr>
              <a:t>Exercise</a:t>
            </a:r>
          </a:p>
        </p:txBody>
      </p:sp>
      <p:sp>
        <p:nvSpPr>
          <p:cNvPr id="400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819400"/>
            <a:ext cx="8153400" cy="1600200"/>
          </a:xfrm>
        </p:spPr>
        <p:txBody>
          <a:bodyPr/>
          <a:lstStyle/>
          <a:p>
            <a:r>
              <a:rPr lang="en-US" sz="2800" dirty="0">
                <a:cs typeface="Comic Sans MS"/>
              </a:rPr>
              <a:t>Find the names of sailors who have reserved boat 103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800100" y="1250602"/>
            <a:ext cx="77724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 dirty="0">
                <a:latin typeface="+mn-lt"/>
              </a:rPr>
              <a:t>Sailors(</a:t>
            </a:r>
            <a:r>
              <a:rPr lang="en-US" sz="2800" u="sng" dirty="0" err="1">
                <a:latin typeface="+mn-lt"/>
              </a:rPr>
              <a:t>sid</a:t>
            </a:r>
            <a:r>
              <a:rPr lang="en-US" sz="2800" dirty="0">
                <a:latin typeface="+mn-lt"/>
              </a:rPr>
              <a:t>, </a:t>
            </a:r>
            <a:r>
              <a:rPr lang="en-US" sz="2800" dirty="0" err="1">
                <a:latin typeface="+mn-lt"/>
              </a:rPr>
              <a:t>sname</a:t>
            </a:r>
            <a:r>
              <a:rPr lang="en-US" sz="2800" dirty="0">
                <a:latin typeface="+mn-lt"/>
              </a:rPr>
              <a:t>, rating, age)</a:t>
            </a:r>
          </a:p>
          <a:p>
            <a:r>
              <a:rPr lang="en-US" sz="2800" dirty="0">
                <a:latin typeface="+mn-lt"/>
              </a:rPr>
              <a:t>Boats(</a:t>
            </a:r>
            <a:r>
              <a:rPr lang="en-US" sz="2800" u="sng" dirty="0">
                <a:latin typeface="+mn-lt"/>
              </a:rPr>
              <a:t>bid</a:t>
            </a:r>
            <a:r>
              <a:rPr lang="en-US" sz="2800" dirty="0">
                <a:latin typeface="+mn-lt"/>
              </a:rPr>
              <a:t>, </a:t>
            </a:r>
            <a:r>
              <a:rPr lang="en-US" sz="2800" dirty="0" err="1">
                <a:latin typeface="+mn-lt"/>
              </a:rPr>
              <a:t>bname</a:t>
            </a:r>
            <a:r>
              <a:rPr lang="en-US" sz="2800" dirty="0">
                <a:latin typeface="+mn-lt"/>
              </a:rPr>
              <a:t>, color)</a:t>
            </a:r>
          </a:p>
          <a:p>
            <a:r>
              <a:rPr lang="en-US" sz="2800" dirty="0">
                <a:latin typeface="+mn-lt"/>
              </a:rPr>
              <a:t>Reserve(</a:t>
            </a:r>
            <a:r>
              <a:rPr lang="en-US" sz="2800" u="sng" dirty="0" err="1">
                <a:latin typeface="+mn-lt"/>
              </a:rPr>
              <a:t>sid</a:t>
            </a:r>
            <a:r>
              <a:rPr lang="en-US" sz="2800" u="sng" dirty="0">
                <a:latin typeface="+mn-lt"/>
              </a:rPr>
              <a:t>, bid, day</a:t>
            </a:r>
            <a:r>
              <a:rPr lang="en-US" sz="2800" dirty="0">
                <a:latin typeface="+mn-lt"/>
              </a:rPr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B6384A-5716-164C-9774-685CCAB72560}"/>
              </a:ext>
            </a:extLst>
          </p:cNvPr>
          <p:cNvSpPr/>
          <p:nvPr/>
        </p:nvSpPr>
        <p:spPr>
          <a:xfrm>
            <a:off x="7239000" y="556190"/>
            <a:ext cx="762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Π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б</a:t>
            </a:r>
            <a:endParaRPr lang="en-US" dirty="0"/>
          </a:p>
          <a:p>
            <a:endParaRPr lang="en-US" dirty="0"/>
          </a:p>
          <a:p>
            <a:r>
              <a:rPr lang="en-US" dirty="0"/>
              <a:t>⋈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83BA38-2608-C740-B3CE-5F56F1FE11BD}"/>
              </a:ext>
            </a:extLst>
          </p:cNvPr>
          <p:cNvSpPr txBox="1"/>
          <p:nvPr/>
        </p:nvSpPr>
        <p:spPr>
          <a:xfrm>
            <a:off x="609600" y="3904147"/>
            <a:ext cx="83719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Π</a:t>
            </a:r>
            <a:r>
              <a:rPr lang="en-US" sz="3200" baseline="-25000" dirty="0" err="1"/>
              <a:t>sname</a:t>
            </a:r>
            <a:r>
              <a:rPr lang="en-US" sz="3200" dirty="0"/>
              <a:t> (</a:t>
            </a:r>
            <a:r>
              <a:rPr lang="en-US" sz="3200" dirty="0" err="1"/>
              <a:t>Π</a:t>
            </a:r>
            <a:r>
              <a:rPr lang="en-US" sz="3200" baseline="-25000" dirty="0" err="1"/>
              <a:t>sid</a:t>
            </a:r>
            <a:r>
              <a:rPr lang="en-US" sz="3200" dirty="0"/>
              <a:t>(</a:t>
            </a:r>
            <a:r>
              <a:rPr lang="az-Cyrl-AZ" sz="3200" dirty="0"/>
              <a:t>Б</a:t>
            </a:r>
            <a:r>
              <a:rPr lang="en-US" sz="3200" baseline="-25000" dirty="0"/>
              <a:t>bid=103 </a:t>
            </a:r>
            <a:r>
              <a:rPr lang="en-US" sz="3200" dirty="0"/>
              <a:t>(Reserve)) ⋈</a:t>
            </a:r>
            <a:r>
              <a:rPr lang="en-US" sz="3200" baseline="-25000" dirty="0" err="1"/>
              <a:t>S.sid</a:t>
            </a:r>
            <a:r>
              <a:rPr lang="en-US" sz="3200" baseline="-25000" dirty="0"/>
              <a:t> == </a:t>
            </a:r>
            <a:r>
              <a:rPr lang="en-US" sz="3200" baseline="-25000" dirty="0" err="1"/>
              <a:t>Sailors.sid</a:t>
            </a:r>
            <a:r>
              <a:rPr lang="en-US" sz="3200" dirty="0"/>
              <a:t> Sailors)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74416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685800"/>
          </a:xfrm>
        </p:spPr>
        <p:txBody>
          <a:bodyPr/>
          <a:lstStyle/>
          <a:p>
            <a:r>
              <a:rPr lang="en-US" dirty="0">
                <a:latin typeface="+mn-lt"/>
              </a:rPr>
              <a:t>Exercise</a:t>
            </a:r>
          </a:p>
        </p:txBody>
      </p:sp>
      <p:sp>
        <p:nvSpPr>
          <p:cNvPr id="400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819400"/>
            <a:ext cx="8153400" cy="1600200"/>
          </a:xfrm>
        </p:spPr>
        <p:txBody>
          <a:bodyPr/>
          <a:lstStyle/>
          <a:p>
            <a:r>
              <a:rPr lang="en-US" sz="2800" dirty="0">
                <a:cs typeface="Comic Sans MS"/>
              </a:rPr>
              <a:t>Find the names of sailors who have reserved boat 103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800100" y="1250602"/>
            <a:ext cx="77724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 dirty="0">
                <a:latin typeface="+mn-lt"/>
              </a:rPr>
              <a:t>Sailors(</a:t>
            </a:r>
            <a:r>
              <a:rPr lang="en-US" sz="2800" u="sng" dirty="0" err="1">
                <a:latin typeface="+mn-lt"/>
              </a:rPr>
              <a:t>sid</a:t>
            </a:r>
            <a:r>
              <a:rPr lang="en-US" sz="2800" dirty="0">
                <a:latin typeface="+mn-lt"/>
              </a:rPr>
              <a:t>, </a:t>
            </a:r>
            <a:r>
              <a:rPr lang="en-US" sz="2800" dirty="0" err="1">
                <a:latin typeface="+mn-lt"/>
              </a:rPr>
              <a:t>sname</a:t>
            </a:r>
            <a:r>
              <a:rPr lang="en-US" sz="2800" dirty="0">
                <a:latin typeface="+mn-lt"/>
              </a:rPr>
              <a:t>, rating, age)</a:t>
            </a:r>
          </a:p>
          <a:p>
            <a:r>
              <a:rPr lang="en-US" sz="2800" dirty="0">
                <a:latin typeface="+mn-lt"/>
              </a:rPr>
              <a:t>Boats(</a:t>
            </a:r>
            <a:r>
              <a:rPr lang="en-US" sz="2800" u="sng" dirty="0">
                <a:latin typeface="+mn-lt"/>
              </a:rPr>
              <a:t>bid</a:t>
            </a:r>
            <a:r>
              <a:rPr lang="en-US" sz="2800" dirty="0">
                <a:latin typeface="+mn-lt"/>
              </a:rPr>
              <a:t>, </a:t>
            </a:r>
            <a:r>
              <a:rPr lang="en-US" sz="2800" dirty="0" err="1">
                <a:latin typeface="+mn-lt"/>
              </a:rPr>
              <a:t>bname</a:t>
            </a:r>
            <a:r>
              <a:rPr lang="en-US" sz="2800" dirty="0">
                <a:latin typeface="+mn-lt"/>
              </a:rPr>
              <a:t>, color)</a:t>
            </a:r>
          </a:p>
          <a:p>
            <a:r>
              <a:rPr lang="en-US" sz="2800" dirty="0">
                <a:latin typeface="+mn-lt"/>
              </a:rPr>
              <a:t>Reserve(</a:t>
            </a:r>
            <a:r>
              <a:rPr lang="en-US" sz="2800" u="sng" dirty="0" err="1">
                <a:latin typeface="+mn-lt"/>
              </a:rPr>
              <a:t>sid</a:t>
            </a:r>
            <a:r>
              <a:rPr lang="en-US" sz="2800" u="sng" dirty="0">
                <a:latin typeface="+mn-lt"/>
              </a:rPr>
              <a:t>, bid, day</a:t>
            </a:r>
            <a:r>
              <a:rPr lang="en-US" sz="2800" dirty="0">
                <a:latin typeface="+mn-lt"/>
              </a:rPr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29818E-D6EB-1C46-8E4C-84A89175CE68}"/>
              </a:ext>
            </a:extLst>
          </p:cNvPr>
          <p:cNvSpPr/>
          <p:nvPr/>
        </p:nvSpPr>
        <p:spPr>
          <a:xfrm>
            <a:off x="1446785" y="4160205"/>
            <a:ext cx="62504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3200" dirty="0">
                <a:latin typeface="+mn-lt"/>
              </a:rPr>
              <a:t>Π</a:t>
            </a:r>
            <a:r>
              <a:rPr lang="en-US" sz="3200" baseline="-25000" dirty="0" err="1">
                <a:latin typeface="+mn-lt"/>
              </a:rPr>
              <a:t>sname</a:t>
            </a:r>
            <a:r>
              <a:rPr lang="en-US" sz="3200" dirty="0">
                <a:latin typeface="+mn-lt"/>
              </a:rPr>
              <a:t>(</a:t>
            </a:r>
            <a:r>
              <a:rPr lang="ru-RU" sz="3200" dirty="0">
                <a:latin typeface="+mn-lt"/>
              </a:rPr>
              <a:t>б</a:t>
            </a:r>
            <a:r>
              <a:rPr lang="en-US" sz="3200" baseline="-25000" dirty="0">
                <a:latin typeface="+mn-lt"/>
              </a:rPr>
              <a:t>bid=103</a:t>
            </a:r>
            <a:r>
              <a:rPr lang="en-US" sz="3200" dirty="0">
                <a:latin typeface="+mn-lt"/>
              </a:rPr>
              <a:t>(Reserves ⋈ Sailors))</a:t>
            </a:r>
          </a:p>
        </p:txBody>
      </p:sp>
    </p:spTree>
    <p:extLst>
      <p:ext uri="{BB962C8B-B14F-4D97-AF65-F5344CB8AC3E}">
        <p14:creationId xmlns:p14="http://schemas.microsoft.com/office/powerpoint/2010/main" val="2995969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</a:t>
            </a:r>
          </a:p>
        </p:txBody>
      </p:sp>
      <p:sp>
        <p:nvSpPr>
          <p:cNvPr id="4044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7924800" cy="41148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sz="2800" dirty="0">
                <a:cs typeface="Comic Sans MS"/>
              </a:rPr>
              <a:t>Find the names of sailors who have reserved a red boat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4DED993B-446F-3044-9928-D1D73D0724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524000"/>
            <a:ext cx="77724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 dirty="0">
                <a:latin typeface="+mn-lt"/>
              </a:rPr>
              <a:t>Sailors(</a:t>
            </a:r>
            <a:r>
              <a:rPr lang="en-US" sz="2800" u="sng" dirty="0" err="1">
                <a:latin typeface="+mn-lt"/>
              </a:rPr>
              <a:t>sid</a:t>
            </a:r>
            <a:r>
              <a:rPr lang="en-US" sz="2800" dirty="0">
                <a:latin typeface="+mn-lt"/>
              </a:rPr>
              <a:t>, </a:t>
            </a:r>
            <a:r>
              <a:rPr lang="en-US" sz="2800" dirty="0" err="1">
                <a:latin typeface="+mn-lt"/>
              </a:rPr>
              <a:t>sname</a:t>
            </a:r>
            <a:r>
              <a:rPr lang="en-US" sz="2800" dirty="0">
                <a:latin typeface="+mn-lt"/>
              </a:rPr>
              <a:t>, rating, age)</a:t>
            </a:r>
          </a:p>
          <a:p>
            <a:r>
              <a:rPr lang="en-US" sz="2800" dirty="0">
                <a:latin typeface="+mn-lt"/>
              </a:rPr>
              <a:t>Boats(</a:t>
            </a:r>
            <a:r>
              <a:rPr lang="en-US" sz="2800" u="sng" dirty="0">
                <a:latin typeface="+mn-lt"/>
              </a:rPr>
              <a:t>bid</a:t>
            </a:r>
            <a:r>
              <a:rPr lang="en-US" sz="2800" dirty="0">
                <a:latin typeface="+mn-lt"/>
              </a:rPr>
              <a:t>, </a:t>
            </a:r>
            <a:r>
              <a:rPr lang="en-US" sz="2800" dirty="0" err="1">
                <a:latin typeface="+mn-lt"/>
              </a:rPr>
              <a:t>bname</a:t>
            </a:r>
            <a:r>
              <a:rPr lang="en-US" sz="2800" dirty="0">
                <a:latin typeface="+mn-lt"/>
              </a:rPr>
              <a:t>, color)</a:t>
            </a:r>
          </a:p>
          <a:p>
            <a:r>
              <a:rPr lang="en-US" sz="2800" dirty="0">
                <a:latin typeface="+mn-lt"/>
              </a:rPr>
              <a:t>Reserve(</a:t>
            </a:r>
            <a:r>
              <a:rPr lang="en-US" sz="2800" u="sng" dirty="0" err="1">
                <a:latin typeface="+mn-lt"/>
              </a:rPr>
              <a:t>sid</a:t>
            </a:r>
            <a:r>
              <a:rPr lang="en-US" sz="2800" u="sng" dirty="0">
                <a:latin typeface="+mn-lt"/>
              </a:rPr>
              <a:t>, bid, day</a:t>
            </a:r>
            <a:r>
              <a:rPr lang="en-US" sz="2800" dirty="0">
                <a:latin typeface="+mn-lt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ACEFFF-73C5-224B-840D-052C1C92F9BA}"/>
              </a:ext>
            </a:extLst>
          </p:cNvPr>
          <p:cNvSpPr txBox="1"/>
          <p:nvPr/>
        </p:nvSpPr>
        <p:spPr>
          <a:xfrm>
            <a:off x="1031281" y="4724400"/>
            <a:ext cx="72122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Project </a:t>
            </a:r>
            <a:r>
              <a:rPr lang="en-US" baseline="-25000" dirty="0" err="1"/>
              <a:t>sname</a:t>
            </a:r>
            <a:r>
              <a:rPr lang="en-US" dirty="0"/>
              <a:t> (</a:t>
            </a:r>
            <a:r>
              <a:rPr lang="en-US" dirty="0" err="1"/>
              <a:t>Select</a:t>
            </a:r>
            <a:r>
              <a:rPr lang="en-US" baseline="-25000" dirty="0" err="1"/>
              <a:t>color</a:t>
            </a:r>
            <a:r>
              <a:rPr lang="en-US" baseline="-25000" dirty="0"/>
              <a:t> = “red”</a:t>
            </a:r>
            <a:r>
              <a:rPr lang="en-US" dirty="0"/>
              <a:t> (Boats  &amp; Reserve &amp; Sailors)) </a:t>
            </a:r>
          </a:p>
        </p:txBody>
      </p:sp>
    </p:spTree>
    <p:extLst>
      <p:ext uri="{BB962C8B-B14F-4D97-AF65-F5344CB8AC3E}">
        <p14:creationId xmlns:p14="http://schemas.microsoft.com/office/powerpoint/2010/main" val="1137166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</a:t>
            </a:r>
          </a:p>
        </p:txBody>
      </p:sp>
      <p:sp>
        <p:nvSpPr>
          <p:cNvPr id="4044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7924800" cy="41148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sz="2800" dirty="0">
                <a:cs typeface="Comic Sans MS"/>
              </a:rPr>
              <a:t>Find the names of sailors who have reserved a red boat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4DED993B-446F-3044-9928-D1D73D0724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524000"/>
            <a:ext cx="77724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 dirty="0">
                <a:latin typeface="+mn-lt"/>
              </a:rPr>
              <a:t>Sailors(</a:t>
            </a:r>
            <a:r>
              <a:rPr lang="en-US" sz="2800" u="sng" dirty="0" err="1">
                <a:latin typeface="+mn-lt"/>
              </a:rPr>
              <a:t>sid</a:t>
            </a:r>
            <a:r>
              <a:rPr lang="en-US" sz="2800" dirty="0">
                <a:latin typeface="+mn-lt"/>
              </a:rPr>
              <a:t>, </a:t>
            </a:r>
            <a:r>
              <a:rPr lang="en-US" sz="2800" dirty="0" err="1">
                <a:latin typeface="+mn-lt"/>
              </a:rPr>
              <a:t>sname</a:t>
            </a:r>
            <a:r>
              <a:rPr lang="en-US" sz="2800" dirty="0">
                <a:latin typeface="+mn-lt"/>
              </a:rPr>
              <a:t>, rating, age)</a:t>
            </a:r>
          </a:p>
          <a:p>
            <a:r>
              <a:rPr lang="en-US" sz="2800" dirty="0">
                <a:latin typeface="+mn-lt"/>
              </a:rPr>
              <a:t>Boats(</a:t>
            </a:r>
            <a:r>
              <a:rPr lang="en-US" sz="2800" u="sng" dirty="0">
                <a:latin typeface="+mn-lt"/>
              </a:rPr>
              <a:t>bid</a:t>
            </a:r>
            <a:r>
              <a:rPr lang="en-US" sz="2800" dirty="0">
                <a:latin typeface="+mn-lt"/>
              </a:rPr>
              <a:t>, </a:t>
            </a:r>
            <a:r>
              <a:rPr lang="en-US" sz="2800" dirty="0" err="1">
                <a:latin typeface="+mn-lt"/>
              </a:rPr>
              <a:t>bname</a:t>
            </a:r>
            <a:r>
              <a:rPr lang="en-US" sz="2800" dirty="0">
                <a:latin typeface="+mn-lt"/>
              </a:rPr>
              <a:t>, color)</a:t>
            </a:r>
          </a:p>
          <a:p>
            <a:r>
              <a:rPr lang="en-US" sz="2800" dirty="0">
                <a:latin typeface="+mn-lt"/>
              </a:rPr>
              <a:t>Reserve(</a:t>
            </a:r>
            <a:r>
              <a:rPr lang="en-US" sz="2800" u="sng" dirty="0" err="1">
                <a:latin typeface="+mn-lt"/>
              </a:rPr>
              <a:t>sid</a:t>
            </a:r>
            <a:r>
              <a:rPr lang="en-US" sz="2800" u="sng" dirty="0">
                <a:latin typeface="+mn-lt"/>
              </a:rPr>
              <a:t>, bid, day</a:t>
            </a:r>
            <a:r>
              <a:rPr lang="en-US" sz="2800" dirty="0">
                <a:latin typeface="+mn-lt"/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892FA1-F969-6345-B1FF-D4969196737A}"/>
              </a:ext>
            </a:extLst>
          </p:cNvPr>
          <p:cNvSpPr/>
          <p:nvPr/>
        </p:nvSpPr>
        <p:spPr>
          <a:xfrm>
            <a:off x="668642" y="4343400"/>
            <a:ext cx="81115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3200" dirty="0">
                <a:latin typeface="+mn-lt"/>
              </a:rPr>
              <a:t>Π</a:t>
            </a:r>
            <a:r>
              <a:rPr lang="en-US" sz="3200" baseline="-25000" dirty="0" err="1">
                <a:latin typeface="+mn-lt"/>
              </a:rPr>
              <a:t>sname</a:t>
            </a:r>
            <a:r>
              <a:rPr lang="en-US" sz="3200" dirty="0">
                <a:latin typeface="+mn-lt"/>
              </a:rPr>
              <a:t>(</a:t>
            </a:r>
            <a:r>
              <a:rPr lang="ru-RU" sz="3200" dirty="0">
                <a:latin typeface="+mn-lt"/>
              </a:rPr>
              <a:t>б</a:t>
            </a:r>
            <a:r>
              <a:rPr lang="en-US" sz="3200" baseline="-25000" dirty="0">
                <a:latin typeface="+mn-lt"/>
              </a:rPr>
              <a:t>color=“red” </a:t>
            </a:r>
            <a:r>
              <a:rPr lang="en-US" sz="3200" dirty="0">
                <a:latin typeface="+mn-lt"/>
              </a:rPr>
              <a:t>(Boats</a:t>
            </a:r>
            <a:r>
              <a:rPr lang="en-US" sz="3200" dirty="0"/>
              <a:t> ⋈ </a:t>
            </a:r>
            <a:r>
              <a:rPr lang="en-US" sz="3200" dirty="0">
                <a:latin typeface="+mn-lt"/>
              </a:rPr>
              <a:t>Reserves ⋈ Sailors))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0EBE5F-61EB-965C-871F-2E82C162325B}"/>
              </a:ext>
            </a:extLst>
          </p:cNvPr>
          <p:cNvSpPr txBox="1"/>
          <p:nvPr/>
        </p:nvSpPr>
        <p:spPr>
          <a:xfrm>
            <a:off x="1219200" y="5540514"/>
            <a:ext cx="54653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expressions can be different, but </a:t>
            </a:r>
            <a:r>
              <a:rPr lang="en-US"/>
              <a:t>all produce </a:t>
            </a:r>
            <a:r>
              <a:rPr lang="en-US" dirty="0"/>
              <a:t>the correct result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914400"/>
          </a:xfrm>
        </p:spPr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406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3276600"/>
            <a:ext cx="7772400" cy="761999"/>
          </a:xfrm>
        </p:spPr>
        <p:txBody>
          <a:bodyPr/>
          <a:lstStyle/>
          <a:p>
            <a:r>
              <a:rPr lang="en-US" sz="2800" dirty="0">
                <a:cs typeface="Comic Sans MS"/>
              </a:rPr>
              <a:t>Find the colors of boats reserved by Lubber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CA71D4D9-7D8D-6041-84BD-B9DCF152C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524000"/>
            <a:ext cx="77724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 dirty="0">
                <a:latin typeface="+mn-lt"/>
              </a:rPr>
              <a:t>Sailors(</a:t>
            </a:r>
            <a:r>
              <a:rPr lang="en-US" sz="2800" u="sng" dirty="0" err="1">
                <a:latin typeface="+mn-lt"/>
              </a:rPr>
              <a:t>sid</a:t>
            </a:r>
            <a:r>
              <a:rPr lang="en-US" sz="2800" dirty="0">
                <a:latin typeface="+mn-lt"/>
              </a:rPr>
              <a:t>, </a:t>
            </a:r>
            <a:r>
              <a:rPr lang="en-US" sz="2800" dirty="0" err="1">
                <a:latin typeface="+mn-lt"/>
              </a:rPr>
              <a:t>sname</a:t>
            </a:r>
            <a:r>
              <a:rPr lang="en-US" sz="2800" dirty="0">
                <a:latin typeface="+mn-lt"/>
              </a:rPr>
              <a:t>, rating, age)</a:t>
            </a:r>
          </a:p>
          <a:p>
            <a:r>
              <a:rPr lang="en-US" sz="2800" dirty="0">
                <a:latin typeface="+mn-lt"/>
              </a:rPr>
              <a:t>Boats(</a:t>
            </a:r>
            <a:r>
              <a:rPr lang="en-US" sz="2800" u="sng" dirty="0">
                <a:latin typeface="+mn-lt"/>
              </a:rPr>
              <a:t>bid</a:t>
            </a:r>
            <a:r>
              <a:rPr lang="en-US" sz="2800" dirty="0">
                <a:latin typeface="+mn-lt"/>
              </a:rPr>
              <a:t>, </a:t>
            </a:r>
            <a:r>
              <a:rPr lang="en-US" sz="2800" dirty="0" err="1">
                <a:latin typeface="+mn-lt"/>
              </a:rPr>
              <a:t>bname</a:t>
            </a:r>
            <a:r>
              <a:rPr lang="en-US" sz="2800" dirty="0">
                <a:latin typeface="+mn-lt"/>
              </a:rPr>
              <a:t>, color)</a:t>
            </a:r>
          </a:p>
          <a:p>
            <a:r>
              <a:rPr lang="en-US" sz="2800" dirty="0">
                <a:latin typeface="+mn-lt"/>
              </a:rPr>
              <a:t>Reserve(</a:t>
            </a:r>
            <a:r>
              <a:rPr lang="en-US" sz="2800" u="sng" dirty="0" err="1">
                <a:latin typeface="+mn-lt"/>
              </a:rPr>
              <a:t>sid</a:t>
            </a:r>
            <a:r>
              <a:rPr lang="en-US" sz="2800" u="sng" dirty="0">
                <a:latin typeface="+mn-lt"/>
              </a:rPr>
              <a:t>, bid, day</a:t>
            </a:r>
            <a:r>
              <a:rPr lang="en-US" sz="2800" dirty="0">
                <a:latin typeface="+mn-lt"/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1BCB68-6B0F-594D-BCEE-A168410CD8AD}"/>
              </a:ext>
            </a:extLst>
          </p:cNvPr>
          <p:cNvSpPr/>
          <p:nvPr/>
        </p:nvSpPr>
        <p:spPr>
          <a:xfrm>
            <a:off x="408154" y="4038600"/>
            <a:ext cx="863249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3200" dirty="0">
                <a:latin typeface="+mn-lt"/>
              </a:rPr>
              <a:t>Π</a:t>
            </a:r>
            <a:r>
              <a:rPr lang="en-US" sz="3200" baseline="-25000" dirty="0">
                <a:latin typeface="+mn-lt"/>
              </a:rPr>
              <a:t>color </a:t>
            </a:r>
            <a:r>
              <a:rPr lang="en-US" sz="3200" dirty="0">
                <a:latin typeface="+mn-lt"/>
              </a:rPr>
              <a:t>(</a:t>
            </a:r>
            <a:r>
              <a:rPr lang="ru-RU" sz="3200" dirty="0">
                <a:latin typeface="+mn-lt"/>
              </a:rPr>
              <a:t>б</a:t>
            </a:r>
            <a:r>
              <a:rPr lang="en-US" sz="3200" baseline="-25000" dirty="0" err="1">
                <a:latin typeface="+mn-lt"/>
              </a:rPr>
              <a:t>sname</a:t>
            </a:r>
            <a:r>
              <a:rPr lang="en-US" sz="3200" baseline="-25000" dirty="0">
                <a:latin typeface="+mn-lt"/>
              </a:rPr>
              <a:t>=“Lubber” </a:t>
            </a:r>
            <a:r>
              <a:rPr lang="en-US" sz="3200" dirty="0">
                <a:latin typeface="+mn-lt"/>
              </a:rPr>
              <a:t>(Reserves ⋈ Sailors </a:t>
            </a:r>
            <a:r>
              <a:rPr lang="en-US" sz="3200" dirty="0"/>
              <a:t>⋈ </a:t>
            </a:r>
            <a:r>
              <a:rPr lang="en-US" sz="3200" dirty="0">
                <a:latin typeface="+mn-lt"/>
              </a:rPr>
              <a:t>Boats))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914400"/>
          </a:xfrm>
        </p:spPr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CA71D4D9-7D8D-6041-84BD-B9DCF152C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524000"/>
            <a:ext cx="77724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 dirty="0">
                <a:latin typeface="+mn-lt"/>
              </a:rPr>
              <a:t>Sailors(</a:t>
            </a:r>
            <a:r>
              <a:rPr lang="en-US" sz="2800" u="sng" dirty="0" err="1">
                <a:latin typeface="+mn-lt"/>
              </a:rPr>
              <a:t>sid</a:t>
            </a:r>
            <a:r>
              <a:rPr lang="en-US" sz="2800" dirty="0">
                <a:latin typeface="+mn-lt"/>
              </a:rPr>
              <a:t>, </a:t>
            </a:r>
            <a:r>
              <a:rPr lang="en-US" sz="2800" dirty="0" err="1">
                <a:latin typeface="+mn-lt"/>
              </a:rPr>
              <a:t>sname</a:t>
            </a:r>
            <a:r>
              <a:rPr lang="en-US" sz="2800" dirty="0">
                <a:latin typeface="+mn-lt"/>
              </a:rPr>
              <a:t>, rating, age)</a:t>
            </a:r>
          </a:p>
          <a:p>
            <a:r>
              <a:rPr lang="en-US" sz="2800" dirty="0">
                <a:latin typeface="+mn-lt"/>
              </a:rPr>
              <a:t>Boats(</a:t>
            </a:r>
            <a:r>
              <a:rPr lang="en-US" sz="2800" u="sng" dirty="0">
                <a:latin typeface="+mn-lt"/>
              </a:rPr>
              <a:t>bid</a:t>
            </a:r>
            <a:r>
              <a:rPr lang="en-US" sz="2800" dirty="0">
                <a:latin typeface="+mn-lt"/>
              </a:rPr>
              <a:t>, </a:t>
            </a:r>
            <a:r>
              <a:rPr lang="en-US" sz="2800" dirty="0" err="1">
                <a:latin typeface="+mn-lt"/>
              </a:rPr>
              <a:t>bname</a:t>
            </a:r>
            <a:r>
              <a:rPr lang="en-US" sz="2800" dirty="0">
                <a:latin typeface="+mn-lt"/>
              </a:rPr>
              <a:t>, color)</a:t>
            </a:r>
          </a:p>
          <a:p>
            <a:r>
              <a:rPr lang="en-US" sz="2800" dirty="0">
                <a:latin typeface="+mn-lt"/>
              </a:rPr>
              <a:t>Reserve(</a:t>
            </a:r>
            <a:r>
              <a:rPr lang="en-US" sz="2800" u="sng" dirty="0" err="1">
                <a:latin typeface="+mn-lt"/>
              </a:rPr>
              <a:t>sid</a:t>
            </a:r>
            <a:r>
              <a:rPr lang="en-US" sz="2800" u="sng" dirty="0">
                <a:latin typeface="+mn-lt"/>
              </a:rPr>
              <a:t>, bid, day</a:t>
            </a:r>
            <a:r>
              <a:rPr lang="en-US" sz="2800" dirty="0">
                <a:latin typeface="+mn-lt"/>
              </a:rPr>
              <a:t>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765B40-0494-6749-BD32-E92C6ED0DAB2}"/>
              </a:ext>
            </a:extLst>
          </p:cNvPr>
          <p:cNvSpPr/>
          <p:nvPr/>
        </p:nvSpPr>
        <p:spPr>
          <a:xfrm>
            <a:off x="408154" y="4038600"/>
            <a:ext cx="8489825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3200" dirty="0">
                <a:latin typeface="+mn-lt"/>
              </a:rPr>
              <a:t>Π</a:t>
            </a:r>
            <a:r>
              <a:rPr lang="en-US" sz="3200" baseline="-25000" dirty="0">
                <a:latin typeface="+mn-lt"/>
              </a:rPr>
              <a:t>color</a:t>
            </a:r>
            <a:r>
              <a:rPr lang="en-US" sz="3200" dirty="0">
                <a:latin typeface="+mn-lt"/>
              </a:rPr>
              <a:t>(Boats) - </a:t>
            </a:r>
          </a:p>
          <a:p>
            <a:r>
              <a:rPr lang="el-GR" sz="3200" dirty="0">
                <a:latin typeface="+mn-lt"/>
              </a:rPr>
              <a:t>Π</a:t>
            </a:r>
            <a:r>
              <a:rPr lang="en-US" sz="3200" baseline="-25000" dirty="0">
                <a:latin typeface="+mn-lt"/>
              </a:rPr>
              <a:t>color </a:t>
            </a:r>
            <a:r>
              <a:rPr lang="en-US" sz="3200" dirty="0">
                <a:latin typeface="+mn-lt"/>
              </a:rPr>
              <a:t>(</a:t>
            </a:r>
            <a:r>
              <a:rPr lang="ru-RU" sz="3200" dirty="0">
                <a:latin typeface="+mn-lt"/>
              </a:rPr>
              <a:t>б</a:t>
            </a:r>
            <a:r>
              <a:rPr lang="en-US" sz="3200" baseline="-25000" dirty="0" err="1">
                <a:latin typeface="+mn-lt"/>
              </a:rPr>
              <a:t>sname</a:t>
            </a:r>
            <a:r>
              <a:rPr lang="en-US" sz="3200" baseline="-25000" dirty="0">
                <a:latin typeface="+mn-lt"/>
              </a:rPr>
              <a:t>=“Lubber” </a:t>
            </a:r>
            <a:r>
              <a:rPr lang="en-US" sz="3200" dirty="0">
                <a:latin typeface="+mn-lt"/>
              </a:rPr>
              <a:t>(Reserves ⋈ Sailors </a:t>
            </a:r>
            <a:r>
              <a:rPr lang="en-US" sz="3200" dirty="0"/>
              <a:t>⋈ </a:t>
            </a:r>
            <a:r>
              <a:rPr lang="en-US" sz="3200" dirty="0">
                <a:latin typeface="+mn-lt"/>
              </a:rPr>
              <a:t>Boats))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D6E6E67-FC16-8042-AF92-696B6BF96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276600"/>
            <a:ext cx="7772400" cy="761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800" kern="0">
                <a:cs typeface="Comic Sans MS"/>
              </a:rPr>
              <a:t>Find the colors of boats reserved by Lubber</a:t>
            </a:r>
            <a:endParaRPr lang="en-US" sz="2800" kern="0" dirty="0"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3931101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2895600"/>
            <a:ext cx="7772400" cy="3200400"/>
          </a:xfrm>
        </p:spPr>
        <p:txBody>
          <a:bodyPr/>
          <a:lstStyle/>
          <a:p>
            <a:r>
              <a:rPr lang="en-US" sz="2800" dirty="0">
                <a:cs typeface="Comic Sans MS"/>
              </a:rPr>
              <a:t>Find the names of sailors who have reserved a red or a green boat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BB7D2AD0-7BE9-0C4C-A2F7-EE261A803B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1250602"/>
            <a:ext cx="77724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 dirty="0">
                <a:latin typeface="+mn-lt"/>
              </a:rPr>
              <a:t>Sailors(</a:t>
            </a:r>
            <a:r>
              <a:rPr lang="en-US" sz="2800" u="sng" dirty="0" err="1">
                <a:latin typeface="+mn-lt"/>
              </a:rPr>
              <a:t>sid</a:t>
            </a:r>
            <a:r>
              <a:rPr lang="en-US" sz="2800" dirty="0">
                <a:latin typeface="+mn-lt"/>
              </a:rPr>
              <a:t>, </a:t>
            </a:r>
            <a:r>
              <a:rPr lang="en-US" sz="2800" dirty="0" err="1">
                <a:latin typeface="+mn-lt"/>
              </a:rPr>
              <a:t>sname</a:t>
            </a:r>
            <a:r>
              <a:rPr lang="en-US" sz="2800" dirty="0">
                <a:latin typeface="+mn-lt"/>
              </a:rPr>
              <a:t>, rating, age)</a:t>
            </a:r>
          </a:p>
          <a:p>
            <a:r>
              <a:rPr lang="en-US" sz="2800" dirty="0">
                <a:latin typeface="+mn-lt"/>
              </a:rPr>
              <a:t>Boats(</a:t>
            </a:r>
            <a:r>
              <a:rPr lang="en-US" sz="2800" u="sng" dirty="0">
                <a:latin typeface="+mn-lt"/>
              </a:rPr>
              <a:t>bid</a:t>
            </a:r>
            <a:r>
              <a:rPr lang="en-US" sz="2800" dirty="0">
                <a:latin typeface="+mn-lt"/>
              </a:rPr>
              <a:t>, </a:t>
            </a:r>
            <a:r>
              <a:rPr lang="en-US" sz="2800" dirty="0" err="1">
                <a:latin typeface="+mn-lt"/>
              </a:rPr>
              <a:t>bname</a:t>
            </a:r>
            <a:r>
              <a:rPr lang="en-US" sz="2800" dirty="0">
                <a:latin typeface="+mn-lt"/>
              </a:rPr>
              <a:t>, color)</a:t>
            </a:r>
          </a:p>
          <a:p>
            <a:r>
              <a:rPr lang="en-US" sz="2800" dirty="0">
                <a:latin typeface="+mn-lt"/>
              </a:rPr>
              <a:t>Reserve(</a:t>
            </a:r>
            <a:r>
              <a:rPr lang="en-US" sz="2800" u="sng" dirty="0" err="1">
                <a:latin typeface="+mn-lt"/>
              </a:rPr>
              <a:t>sid</a:t>
            </a:r>
            <a:r>
              <a:rPr lang="en-US" sz="2800" u="sng" dirty="0">
                <a:latin typeface="+mn-lt"/>
              </a:rPr>
              <a:t>, bid, day</a:t>
            </a:r>
            <a:r>
              <a:rPr lang="en-US" sz="2800" dirty="0">
                <a:latin typeface="+mn-lt"/>
              </a:rPr>
              <a:t>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>
                <a:cs typeface="Comic Sans MS"/>
              </a:rPr>
              <a:t>Find the names of sailors who have reserved a red or a green boat</a:t>
            </a:r>
          </a:p>
        </p:txBody>
      </p:sp>
      <p:graphicFrame>
        <p:nvGraphicFramePr>
          <p:cNvPr id="514049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9828669"/>
              </p:ext>
            </p:extLst>
          </p:nvPr>
        </p:nvGraphicFramePr>
        <p:xfrm>
          <a:off x="942975" y="3189288"/>
          <a:ext cx="7480300" cy="334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38500" imgH="1447800" progId="Equation.3">
                  <p:embed/>
                </p:oleObj>
              </mc:Choice>
              <mc:Fallback>
                <p:oleObj name="Equation" r:id="rId3" imgW="3238500" imgH="1447800" progId="Equation.3">
                  <p:embed/>
                  <p:pic>
                    <p:nvPicPr>
                      <p:cNvPr id="514049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2975" y="3189288"/>
                        <a:ext cx="7480300" cy="334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>
            <a:extLst>
              <a:ext uri="{FF2B5EF4-FFF2-40B4-BE49-F238E27FC236}">
                <a16:creationId xmlns:a16="http://schemas.microsoft.com/office/drawing/2014/main" id="{1BA67506-BA34-E146-BBFA-DCD87405EC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925" y="590762"/>
            <a:ext cx="77724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 dirty="0">
                <a:latin typeface="+mn-lt"/>
              </a:rPr>
              <a:t>Sailors(</a:t>
            </a:r>
            <a:r>
              <a:rPr lang="en-US" sz="2800" u="sng" dirty="0" err="1">
                <a:latin typeface="+mn-lt"/>
              </a:rPr>
              <a:t>sid</a:t>
            </a:r>
            <a:r>
              <a:rPr lang="en-US" sz="2800" dirty="0">
                <a:latin typeface="+mn-lt"/>
              </a:rPr>
              <a:t>, </a:t>
            </a:r>
            <a:r>
              <a:rPr lang="en-US" sz="2800" dirty="0" err="1">
                <a:latin typeface="+mn-lt"/>
              </a:rPr>
              <a:t>sname</a:t>
            </a:r>
            <a:r>
              <a:rPr lang="en-US" sz="2800" dirty="0">
                <a:latin typeface="+mn-lt"/>
              </a:rPr>
              <a:t>, rating, age)</a:t>
            </a:r>
          </a:p>
          <a:p>
            <a:r>
              <a:rPr lang="en-US" sz="2800" dirty="0">
                <a:latin typeface="+mn-lt"/>
              </a:rPr>
              <a:t>Boats(</a:t>
            </a:r>
            <a:r>
              <a:rPr lang="en-US" sz="2800" u="sng" dirty="0">
                <a:latin typeface="+mn-lt"/>
              </a:rPr>
              <a:t>bid</a:t>
            </a:r>
            <a:r>
              <a:rPr lang="en-US" sz="2800" dirty="0">
                <a:latin typeface="+mn-lt"/>
              </a:rPr>
              <a:t>, </a:t>
            </a:r>
            <a:r>
              <a:rPr lang="en-US" sz="2800" dirty="0" err="1">
                <a:latin typeface="+mn-lt"/>
              </a:rPr>
              <a:t>bname</a:t>
            </a:r>
            <a:r>
              <a:rPr lang="en-US" sz="2800" dirty="0">
                <a:latin typeface="+mn-lt"/>
              </a:rPr>
              <a:t>, color)</a:t>
            </a:r>
          </a:p>
          <a:p>
            <a:r>
              <a:rPr lang="en-US" sz="2800" dirty="0">
                <a:latin typeface="+mn-lt"/>
              </a:rPr>
              <a:t>Reserve(</a:t>
            </a:r>
            <a:r>
              <a:rPr lang="en-US" sz="2800" u="sng" dirty="0" err="1">
                <a:latin typeface="+mn-lt"/>
              </a:rPr>
              <a:t>sid</a:t>
            </a:r>
            <a:r>
              <a:rPr lang="en-US" sz="2800" u="sng" dirty="0">
                <a:latin typeface="+mn-lt"/>
              </a:rPr>
              <a:t>, bid, day</a:t>
            </a:r>
            <a:r>
              <a:rPr lang="en-US" sz="2800" dirty="0">
                <a:latin typeface="+mn-lt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2895600"/>
            <a:ext cx="8001000" cy="3511897"/>
          </a:xfrm>
        </p:spPr>
        <p:txBody>
          <a:bodyPr/>
          <a:lstStyle/>
          <a:p>
            <a:r>
              <a:rPr lang="en-US" sz="2800" dirty="0"/>
              <a:t>Find the names of sailors who have reserved at least one boat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E811B5CA-8216-BD40-BC80-4481EC79BB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1250602"/>
            <a:ext cx="77724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 dirty="0">
                <a:latin typeface="+mn-lt"/>
              </a:rPr>
              <a:t>Sailors(</a:t>
            </a:r>
            <a:r>
              <a:rPr lang="en-US" sz="2800" u="sng" dirty="0" err="1">
                <a:latin typeface="+mn-lt"/>
              </a:rPr>
              <a:t>sid</a:t>
            </a:r>
            <a:r>
              <a:rPr lang="en-US" sz="2800" dirty="0">
                <a:latin typeface="+mn-lt"/>
              </a:rPr>
              <a:t>, </a:t>
            </a:r>
            <a:r>
              <a:rPr lang="en-US" sz="2800" dirty="0" err="1">
                <a:latin typeface="+mn-lt"/>
              </a:rPr>
              <a:t>sname</a:t>
            </a:r>
            <a:r>
              <a:rPr lang="en-US" sz="2800" dirty="0">
                <a:latin typeface="+mn-lt"/>
              </a:rPr>
              <a:t>, rating, age)</a:t>
            </a:r>
          </a:p>
          <a:p>
            <a:r>
              <a:rPr lang="en-US" sz="2800" dirty="0">
                <a:latin typeface="+mn-lt"/>
              </a:rPr>
              <a:t>Boats(</a:t>
            </a:r>
            <a:r>
              <a:rPr lang="en-US" sz="2800" u="sng" dirty="0">
                <a:latin typeface="+mn-lt"/>
              </a:rPr>
              <a:t>bid</a:t>
            </a:r>
            <a:r>
              <a:rPr lang="en-US" sz="2800" dirty="0">
                <a:latin typeface="+mn-lt"/>
              </a:rPr>
              <a:t>, </a:t>
            </a:r>
            <a:r>
              <a:rPr lang="en-US" sz="2800" dirty="0" err="1">
                <a:latin typeface="+mn-lt"/>
              </a:rPr>
              <a:t>bname</a:t>
            </a:r>
            <a:r>
              <a:rPr lang="en-US" sz="2800" dirty="0">
                <a:latin typeface="+mn-lt"/>
              </a:rPr>
              <a:t>, color)</a:t>
            </a:r>
          </a:p>
          <a:p>
            <a:r>
              <a:rPr lang="en-US" sz="2800" dirty="0">
                <a:latin typeface="+mn-lt"/>
              </a:rPr>
              <a:t>Reserve(</a:t>
            </a:r>
            <a:r>
              <a:rPr lang="en-US" sz="2800" u="sng" dirty="0" err="1">
                <a:latin typeface="+mn-lt"/>
              </a:rPr>
              <a:t>sid</a:t>
            </a:r>
            <a:r>
              <a:rPr lang="en-US" sz="2800" u="sng" dirty="0">
                <a:latin typeface="+mn-lt"/>
              </a:rPr>
              <a:t>, bid, day</a:t>
            </a:r>
            <a:r>
              <a:rPr lang="en-US" sz="2800" dirty="0">
                <a:latin typeface="+mn-lt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1048B77-A55D-199F-4BF1-98AA16E6E04A}"/>
                  </a:ext>
                </a:extLst>
              </p:cNvPr>
              <p:cNvSpPr txBox="1"/>
              <p:nvPr/>
            </p:nvSpPr>
            <p:spPr>
              <a:xfrm>
                <a:off x="2024743" y="4376057"/>
                <a:ext cx="336354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⊓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𝑠𝑛𝑎𝑚𝑒</m:t>
                    </m:r>
                  </m:oMath>
                </a14:m>
                <a:r>
                  <a:rPr lang="en-US" dirty="0"/>
                  <a:t>(Reserve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</m:oMath>
                </a14:m>
                <a:r>
                  <a:rPr lang="en-US" dirty="0"/>
                  <a:t> Sailors)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1048B77-A55D-199F-4BF1-98AA16E6E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743" y="4376057"/>
                <a:ext cx="3363549" cy="400110"/>
              </a:xfrm>
              <a:prstGeom prst="rect">
                <a:avLst/>
              </a:prstGeom>
              <a:blipFill>
                <a:blip r:embed="rId3"/>
                <a:stretch>
                  <a:fillRect t="-9375" r="-752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2286000"/>
            <a:ext cx="8001000" cy="3810000"/>
          </a:xfrm>
        </p:spPr>
        <p:txBody>
          <a:bodyPr/>
          <a:lstStyle/>
          <a:p>
            <a:r>
              <a:rPr lang="en-US" sz="2800" dirty="0"/>
              <a:t>Find the </a:t>
            </a:r>
            <a:r>
              <a:rPr lang="en-US" sz="2800" dirty="0" err="1"/>
              <a:t>sids</a:t>
            </a:r>
            <a:r>
              <a:rPr lang="en-US" sz="2800" dirty="0"/>
              <a:t> of sailors with age over 20 who have not reserved a red boat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34A1F347-A71C-5D4E-8576-EF6DE01DF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634305"/>
            <a:ext cx="77724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 dirty="0">
                <a:latin typeface="+mn-lt"/>
              </a:rPr>
              <a:t>Sailors(</a:t>
            </a:r>
            <a:r>
              <a:rPr lang="en-US" sz="2800" u="sng" dirty="0" err="1">
                <a:latin typeface="+mn-lt"/>
              </a:rPr>
              <a:t>sid</a:t>
            </a:r>
            <a:r>
              <a:rPr lang="en-US" sz="2800" dirty="0">
                <a:latin typeface="+mn-lt"/>
              </a:rPr>
              <a:t>, </a:t>
            </a:r>
            <a:r>
              <a:rPr lang="en-US" sz="2800" dirty="0" err="1">
                <a:latin typeface="+mn-lt"/>
              </a:rPr>
              <a:t>sname</a:t>
            </a:r>
            <a:r>
              <a:rPr lang="en-US" sz="2800" dirty="0">
                <a:latin typeface="+mn-lt"/>
              </a:rPr>
              <a:t>, rating, age)</a:t>
            </a:r>
          </a:p>
          <a:p>
            <a:r>
              <a:rPr lang="en-US" sz="2800" dirty="0">
                <a:latin typeface="+mn-lt"/>
              </a:rPr>
              <a:t>Boats(</a:t>
            </a:r>
            <a:r>
              <a:rPr lang="en-US" sz="2800" u="sng" dirty="0">
                <a:latin typeface="+mn-lt"/>
              </a:rPr>
              <a:t>bid</a:t>
            </a:r>
            <a:r>
              <a:rPr lang="en-US" sz="2800" dirty="0">
                <a:latin typeface="+mn-lt"/>
              </a:rPr>
              <a:t>, </a:t>
            </a:r>
            <a:r>
              <a:rPr lang="en-US" sz="2800" dirty="0" err="1">
                <a:latin typeface="+mn-lt"/>
              </a:rPr>
              <a:t>bname</a:t>
            </a:r>
            <a:r>
              <a:rPr lang="en-US" sz="2800" dirty="0">
                <a:latin typeface="+mn-lt"/>
              </a:rPr>
              <a:t>, color)</a:t>
            </a:r>
          </a:p>
          <a:p>
            <a:r>
              <a:rPr lang="en-US" sz="2800" dirty="0">
                <a:latin typeface="+mn-lt"/>
              </a:rPr>
              <a:t>Reserve(</a:t>
            </a:r>
            <a:r>
              <a:rPr lang="en-US" sz="2800" u="sng" dirty="0" err="1">
                <a:latin typeface="+mn-lt"/>
              </a:rPr>
              <a:t>sid</a:t>
            </a:r>
            <a:r>
              <a:rPr lang="en-US" sz="2800" u="sng" dirty="0">
                <a:latin typeface="+mn-lt"/>
              </a:rPr>
              <a:t>, bid, day</a:t>
            </a:r>
            <a:r>
              <a:rPr lang="en-US" sz="2800" dirty="0">
                <a:latin typeface="+mn-lt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C2D65C-3936-E663-682D-180CCA24C806}"/>
              </a:ext>
            </a:extLst>
          </p:cNvPr>
          <p:cNvSpPr txBox="1"/>
          <p:nvPr/>
        </p:nvSpPr>
        <p:spPr>
          <a:xfrm>
            <a:off x="2819400" y="4114800"/>
            <a:ext cx="24465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 work yourself!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>
            <a:extLst>
              <a:ext uri="{FF2B5EF4-FFF2-40B4-BE49-F238E27FC236}">
                <a16:creationId xmlns:a16="http://schemas.microsoft.com/office/drawing/2014/main" id="{34A1F347-A71C-5D4E-8576-EF6DE01DF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133600"/>
            <a:ext cx="77724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2800" dirty="0">
                <a:latin typeface="+mn-lt"/>
                <a:hlinkClick r:id="rId3"/>
              </a:rPr>
              <a:t>Relational Algebra on Wikipedia</a:t>
            </a:r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4F644C-2776-824E-924D-F1CD4D807B43}"/>
              </a:ext>
            </a:extLst>
          </p:cNvPr>
          <p:cNvSpPr txBox="1"/>
          <p:nvPr/>
        </p:nvSpPr>
        <p:spPr>
          <a:xfrm>
            <a:off x="2895600" y="914400"/>
            <a:ext cx="28216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n-lt"/>
              </a:rPr>
              <a:t>Reading Materials</a:t>
            </a:r>
          </a:p>
        </p:txBody>
      </p:sp>
    </p:spTree>
    <p:extLst>
      <p:ext uri="{BB962C8B-B14F-4D97-AF65-F5344CB8AC3E}">
        <p14:creationId xmlns:p14="http://schemas.microsoft.com/office/powerpoint/2010/main" val="362641129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15065</TotalTime>
  <Words>738</Words>
  <Application>Microsoft Macintosh PowerPoint</Application>
  <PresentationFormat>On-screen Show (4:3)</PresentationFormat>
  <Paragraphs>130</Paragraphs>
  <Slides>21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Cambria Math</vt:lpstr>
      <vt:lpstr>Comic Sans MS</vt:lpstr>
      <vt:lpstr>Times New Roman</vt:lpstr>
      <vt:lpstr>Wingdings</vt:lpstr>
      <vt:lpstr>Default Design</vt:lpstr>
      <vt:lpstr>Equation</vt:lpstr>
      <vt:lpstr>PowerPoint Presentation</vt:lpstr>
      <vt:lpstr>Union, Intersection and Difference Operators</vt:lpstr>
      <vt:lpstr>Select Operator</vt:lpstr>
      <vt:lpstr>Project Operator</vt:lpstr>
      <vt:lpstr>Natural Join Operator</vt:lpstr>
      <vt:lpstr>Renaming Operator</vt:lpstr>
      <vt:lpstr>Cross Product Operator</vt:lpstr>
      <vt:lpstr>Additional Join Operators</vt:lpstr>
      <vt:lpstr>Relational Algebra as a Query Language</vt:lpstr>
      <vt:lpstr>Relational Algebra as a Query Language</vt:lpstr>
      <vt:lpstr>Exercise</vt:lpstr>
      <vt:lpstr>Exercise</vt:lpstr>
      <vt:lpstr>Exercise</vt:lpstr>
      <vt:lpstr>Exercise</vt:lpstr>
      <vt:lpstr>Exercise</vt:lpstr>
      <vt:lpstr>Exercise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Iowa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Department of Computer Scienc</dc:creator>
  <cp:lastModifiedBy>Cai, Ying [COM S]</cp:lastModifiedBy>
  <cp:revision>856</cp:revision>
  <dcterms:created xsi:type="dcterms:W3CDTF">2000-02-08T07:42:55Z</dcterms:created>
  <dcterms:modified xsi:type="dcterms:W3CDTF">2025-10-05T22:32:05Z</dcterms:modified>
</cp:coreProperties>
</file>